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320040" cy="6729984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560320" cy="12801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0A1628"/>
                </a:solidFill>
                <a:latin typeface="Calibri"/>
              </a:rPr>
              <a:t>OECD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Inflation Is Not Always Bad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CD6E0"/>
                </a:solidFill>
                <a:latin typeface="Calibri"/>
              </a:rPr>
              <a:t>When Rising Prices Are a Sign of a Healthy Economy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343400"/>
            <a:ext cx="9144000" cy="2743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4622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99AA"/>
                </a:solidFill>
                <a:latin typeface="Calibri"/>
              </a:rPr>
              <a:t>Follow-up to: Driving Economic Growth  |  Investment, Inflation &amp; FDI (2000-2024)  |  OECD Cohort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6B"/>
                </a:solidFill>
                <a:latin typeface="Calibri"/>
              </a:rPr>
              <a:t>THE BIG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11457432" cy="521208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85800"/>
            <a:ext cx="164592" cy="521208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Moderate inflation -- kept between 1.5% and 3% --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A86B"/>
                </a:solidFill>
                <a:latin typeface="Calibri"/>
              </a:rPr>
              <a:t>is not the enemy.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10360152" cy="2743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D6E0"/>
                </a:solidFill>
                <a:latin typeface="Calibri"/>
              </a:rPr>
              <a:t>It rewards borrowers, motivates spending, and signals that businesses are growing.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D6E0"/>
                </a:solidFill>
                <a:latin typeface="Calibri"/>
              </a:rPr>
              <a:t>It erodes the real burden of debt and gives central banks room to act in a crisis.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10360152" cy="2743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15968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FFC400"/>
                </a:solidFill>
                <a:latin typeface="Calibri"/>
              </a:rPr>
              <a:t>The real danger is not inflation itself -- it is losing control of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Storytelling with Data  |  Big Idea  |  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6B"/>
                </a:solidFill>
                <a:latin typeface="Calibri"/>
              </a:rPr>
              <a:t>THE SETUP  |  WHY WE FEAR INFLATION -- AND WHY ECONOMICS DISAGREES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5394960" cy="52578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85800"/>
            <a:ext cx="5394960" cy="50292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The Fear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28600" cy="22860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6187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Prices rise -- purchasing power falls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228600" cy="22860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48839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Savings erode if interest rates lag behind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99815"/>
            <a:ext cx="228600" cy="22860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35808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Fixed-income earners lose real wealth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86784"/>
            <a:ext cx="228600" cy="22860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2277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Hyperinflation collapses economies
(Zimbabwe 2008, Venezuela 2018)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73752"/>
            <a:ext cx="228600" cy="22860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0974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Businesses struggle to forecast and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685800"/>
            <a:ext cx="5394960" cy="52578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685800"/>
            <a:ext cx="5394960" cy="5029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71323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The Economic Reality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325880"/>
            <a:ext cx="228600" cy="2286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26187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Moderate inflation signals strong demand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212848"/>
            <a:ext cx="228600" cy="2286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148839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Encourages spending today, not tomorrow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099815"/>
            <a:ext cx="228600" cy="2286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035808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Borrowers repay debt in cheaper future money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986784"/>
            <a:ext cx="228600" cy="2286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92277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Central banks target 2% -- by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873752"/>
            <a:ext cx="228600" cy="2286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80974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Our 8 OECD economies averaged 2.39%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15468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400"/>
                </a:solidFill>
                <a:latin typeface="Calibri"/>
              </a:rPr>
              <a:t>VS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3-Minute Story  |  Setup  |  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6B"/>
                </a:solidFill>
                <a:latin typeface="Calibri"/>
              </a:rPr>
              <a:t>THE ECONOMICS  |  4 REASONS MODERATE INFLATION WORKS FOR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13232"/>
            <a:ext cx="11457432" cy="126187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13232"/>
            <a:ext cx="914400" cy="126187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91440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8046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Spending Incentive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280160"/>
            <a:ext cx="99943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D6E0"/>
                </a:solidFill>
                <a:latin typeface="Calibri"/>
              </a:rPr>
              <a:t>If prices will be higher tomorrow, consumers and businesses spend today.
This keeps demand flowing and prevents a deflationary freeze.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66543"/>
            <a:ext cx="11457432" cy="126187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66543"/>
            <a:ext cx="914400" cy="1261872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267712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15798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Debt Erosion 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33472"/>
            <a:ext cx="99943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D6E0"/>
                </a:solidFill>
                <a:latin typeface="Calibri"/>
              </a:rPr>
              <a:t>A fixed-rate loan becomes cheaper to repay as inflation rises.
Mortgages, student loans, and business debt all shrink in real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19856"/>
            <a:ext cx="11457432" cy="126187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419856"/>
            <a:ext cx="914400" cy="12618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621024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1129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Wage Adjustment Buffer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86784"/>
            <a:ext cx="99943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D6E0"/>
                </a:solidFill>
                <a:latin typeface="Calibri"/>
              </a:rPr>
              <a:t>It is easier to give a 3% raise when inflation is 2% (a 1% real raise)
than to cut nominal wages. Inflation gives employers and workers flexibility.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73168"/>
            <a:ext cx="11457432" cy="126187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773168"/>
            <a:ext cx="914400" cy="126187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974336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64607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Monetary Policy 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340096"/>
            <a:ext cx="99943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D6E0"/>
                </a:solidFill>
                <a:latin typeface="Calibri"/>
              </a:rPr>
              <a:t>Central banks cut interest rates to stimulate the economy.
If inflation is 0%, rates hit zero and the central bank runs out of tools.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3-Minute Story  |  Rising Action  |  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6B"/>
                </a:solidFill>
                <a:latin typeface="Calibri"/>
              </a:rPr>
              <a:t>WHO BENEFITS  |  REAL WINNERS WHEN INFLATION IS MODERATE &amp; STABLE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3657600" cy="26060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85800"/>
            <a:ext cx="3657600" cy="5029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Homeowners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0759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Mortgage debt erodes in real terms while property values rise with inflation.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685800"/>
            <a:ext cx="3657600" cy="26060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685800"/>
            <a:ext cx="3657600" cy="502920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74980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Governments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30759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National debt becomes cheaper to service. Inflation quietly reduces wartime or pandemic borrowing.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685800"/>
            <a:ext cx="3657600" cy="26060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685800"/>
            <a:ext cx="365760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74980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Businesses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30759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Rising output prices widen margins, enabling investment, hiring, and expansion.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3657600" cy="26060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20440"/>
            <a:ext cx="3657600" cy="5029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8444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Calibri"/>
              </a:rPr>
              <a:t>Workers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4223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Wage negotiations in an inflationary environment allow real incomes to grow.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520440"/>
            <a:ext cx="3657600" cy="26060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520440"/>
            <a:ext cx="3657600" cy="5029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58444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Equity Investors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14223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Companies with pricing power protect margins. Stocks outperform cash in moderate inflation.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520440"/>
            <a:ext cx="3657600" cy="26060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520440"/>
            <a:ext cx="3657600" cy="502920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58444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Export Nations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14223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Mild inflation can weaken the currency, making exports more competitive globally.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3-Minute Story  |  Rising Action  |  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6B"/>
                </a:solidFill>
                <a:latin typeface="Calibri"/>
              </a:rPr>
              <a:t>THE GOLDILOCKS ZONE  |  NOT TOO COLD, NOT TOO 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828800" cy="1005840"/>
          </a:xfrm>
          <a:prstGeom prst="rect">
            <a:avLst/>
          </a:prstGeom>
          <a:solidFill>
            <a:srgbClr val="00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Below 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Deflation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822960"/>
            <a:ext cx="1645920" cy="100584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79" y="89611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0% to 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79" y="1298448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Too 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822960"/>
            <a:ext cx="2743200" cy="10058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8961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628"/>
                </a:solidFill>
                <a:latin typeface="Calibri"/>
              </a:rPr>
              <a:t>1.5% to 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2984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1628"/>
                </a:solidFill>
                <a:latin typeface="Calibri"/>
              </a:rPr>
              <a:t>SWEET SPOT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822960"/>
            <a:ext cx="2286000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8961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3% to 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29844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Too 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822960"/>
            <a:ext cx="2926080" cy="10058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89611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Above 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29844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Hyperinflation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187451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A86B"/>
                </a:solidFill>
                <a:latin typeface="Calibri"/>
              </a:rPr>
              <a:t>^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3317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00A86B"/>
                </a:solidFill>
                <a:latin typeface="Calibri"/>
              </a:rPr>
              <a:t>Central bank target zone
(Fed, ECB, RBA all target ~2%)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46120"/>
            <a:ext cx="3657600" cy="29718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246120"/>
            <a:ext cx="3657600" cy="502920"/>
          </a:xfrm>
          <a:prstGeom prst="rect">
            <a:avLst/>
          </a:prstGeom>
          <a:solidFill>
            <a:srgbClr val="00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310127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Deflation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67911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Consumers delay spending -- waiting for lower prices.
Demand collapses, businesses cut jobs, prices fall further.
Japan lost a decade to deflation in the 1990s.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246120"/>
            <a:ext cx="3657600" cy="29718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246120"/>
            <a:ext cx="3657600" cy="5029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310127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Calibri"/>
              </a:rPr>
              <a:t>Sweet Spot  1.5-3%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867911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Spending is encouraged. Debt is manageable.
Central banks have room to stimulate if needed.
The OECD average of 2.39% sits right here.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246120"/>
            <a:ext cx="3657600" cy="29718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246120"/>
            <a:ext cx="3657600" cy="50292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310127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Hyperinflation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867911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Money loses meaning. Wages cannot keep up.
Supply chains collapse. Social contracts break.
Zimbabwe 2008: prices doubled every 24 hours.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3-Minute Story  |  Climax  |  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6B"/>
                </a:solidFill>
                <a:latin typeface="Calibri"/>
              </a:rPr>
              <a:t>THE OECD EVIDENCE  |  OUR 8 ECONOMIES (2000-2024)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2708910" cy="16916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58368"/>
            <a:ext cx="2708910" cy="54864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25443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A86B"/>
                </a:solidFill>
                <a:latin typeface="Calibri"/>
              </a:rPr>
              <a:t>2.39%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5443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  <a:latin typeface="Calibri"/>
              </a:rPr>
              <a:t>Average Inflation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5838" y="658368"/>
            <a:ext cx="2708910" cy="16916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5838" y="658368"/>
            <a:ext cx="2708910" cy="54864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7278" y="777240"/>
            <a:ext cx="25443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7ED321"/>
                </a:solidFill>
                <a:latin typeface="Calibri"/>
              </a:rPr>
              <a:t>1.14%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7278" y="1600200"/>
            <a:ext cx="25443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  <a:latin typeface="Calibri"/>
              </a:rPr>
              <a:t>Avg GDP per Capita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658368"/>
            <a:ext cx="2708910" cy="16916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4476" y="658368"/>
            <a:ext cx="270891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5916" y="777240"/>
            <a:ext cx="25443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8C00"/>
                </a:solidFill>
                <a:latin typeface="Calibri"/>
              </a:rPr>
              <a:t>3.82%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1600200"/>
            <a:ext cx="25443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  <a:latin typeface="Calibri"/>
              </a:rPr>
              <a:t>Avg FDI Inflows (% of GDP)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114" y="658368"/>
            <a:ext cx="2708910" cy="16916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114" y="658368"/>
            <a:ext cx="270891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4554" y="777240"/>
            <a:ext cx="25443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C400"/>
                </a:solidFill>
                <a:latin typeface="Calibri"/>
              </a:rPr>
              <a:t>23.43%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4554" y="1600200"/>
            <a:ext cx="25443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  <a:latin typeface="Calibri"/>
              </a:rPr>
              <a:t>Avg Gross Fixed Capital Formation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42032"/>
            <a:ext cx="11457432" cy="109728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542032"/>
            <a:ext cx="164592" cy="109728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63347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An average inflation of 2.39% across 8 economies over 24 years sits squarely in the Goldilocks zone.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154680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D6E0"/>
                </a:solidFill>
                <a:latin typeface="Calibri"/>
              </a:rPr>
              <a:t>Three shocks tested that stability: the 2008 Credit Crisis, the 2020 COVID collapse, and the 2022 inflation surge.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11457432" cy="566928"/>
          </a:xfrm>
          <a:prstGeom prst="rect">
            <a:avLst/>
          </a:prstGeom>
          <a:solidFill>
            <a:srgbClr val="15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87705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86B"/>
                </a:solidFill>
                <a:latin typeface="Calibri"/>
              </a:rPr>
              <a:t>Czechia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3877056"/>
            <a:ext cx="9354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Highest avg inflation (3.2%) -- also the strongest GDP growth signal in the group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16552"/>
            <a:ext cx="11457432" cy="566928"/>
          </a:xfrm>
          <a:prstGeom prst="rect">
            <a:avLst/>
          </a:prstGeom>
          <a:solidFill>
            <a:srgbClr val="15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9884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86B"/>
                </a:solidFill>
                <a:latin typeface="Calibri"/>
              </a:rPr>
              <a:t>France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4498848"/>
            <a:ext cx="9354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Lowest avg inflation (1.7%) -- economic activity remained moderate and steady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38344"/>
            <a:ext cx="11457432" cy="566928"/>
          </a:xfrm>
          <a:prstGeom prst="rect">
            <a:avLst/>
          </a:prstGeom>
          <a:solidFill>
            <a:srgbClr val="15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2064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86B"/>
                </a:solidFill>
                <a:latin typeface="Calibri"/>
              </a:rPr>
              <a:t>Belgium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120640"/>
            <a:ext cx="9354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Highest FDI inflows (9.53% avg) -- foreign capital flows towards price-stable economies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660136"/>
            <a:ext cx="11457432" cy="566928"/>
          </a:xfrm>
          <a:prstGeom prst="rect">
            <a:avLst/>
          </a:prstGeom>
          <a:solidFill>
            <a:srgbClr val="15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742432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86B"/>
                </a:solidFill>
                <a:latin typeface="Calibri"/>
              </a:rPr>
              <a:t>Denmark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742432"/>
            <a:ext cx="9354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  <a:latin typeface="Calibri"/>
              </a:rPr>
              <a:t>Lowest inflation volatility -- a consistent and credible policy anchor over 24 years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3-Minute Story  |  Evidence  |  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6B"/>
                </a:solidFill>
                <a:latin typeface="Calibri"/>
              </a:rPr>
              <a:t>THE RESOLUTION  |  THREE THINGS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11457432" cy="155448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155448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69848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841247"/>
            <a:ext cx="9902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Ask the Rate -- Not Just 'Is There Inflation?'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9902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2% and 20% are both 'inflation' -- but they are opposites in effect.
The number matters. Context matters. Always ask: how much?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14016"/>
            <a:ext cx="11457432" cy="155448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414016"/>
            <a:ext cx="1005840" cy="1554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734056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05456"/>
            <a:ext cx="9902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Know Your Position -- Borrower or Saver?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35808"/>
            <a:ext cx="9902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Inflation transfers wealth from lenders to borrowers.
A homeowner with a mortgage benefits. A retiree on fixed savings loses.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78224"/>
            <a:ext cx="11457432" cy="155448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78224"/>
            <a:ext cx="1005840" cy="155448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398264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9663"/>
            <a:ext cx="9902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Watch the Trend -- Stable vs. Rising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0016"/>
            <a:ext cx="9902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  <a:latin typeface="Calibri"/>
              </a:rPr>
              <a:t>Inflation stable at 2% for a decade is an economic success story.
Inflation rising from 2% to 5% is an early warning signal.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806440"/>
            <a:ext cx="11457432" cy="2743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897880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1">
                <a:solidFill>
                  <a:srgbClr val="00A86B"/>
                </a:solidFill>
                <a:latin typeface="Calibri"/>
              </a:rPr>
              <a:t>"Moderate inflation is the economy's heartbeat -- steady, controlled, and necessary for growth."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3-Minute Story  |  Resolution &amp; Call to Action  |  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6B"/>
                </a:solidFill>
                <a:latin typeface="Calibri"/>
              </a:rPr>
              <a:t>REFERENCES &amp;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58368"/>
            <a:ext cx="11457432" cy="521207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097280" cy="521207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740664"/>
            <a:ext cx="1060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740664"/>
            <a:ext cx="9902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Calibri"/>
              </a:rPr>
              <a:t>OECD Data Explorer -- GDP per capita growth, GFCF, FDI net inflows, Inflation CPI (2000-2024)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43584"/>
            <a:ext cx="11457432" cy="521207"/>
          </a:xfrm>
          <a:prstGeom prst="rect">
            <a:avLst/>
          </a:prstGeom>
          <a:solidFill>
            <a:srgbClr val="15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43584"/>
            <a:ext cx="1097280" cy="521207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25880"/>
            <a:ext cx="1060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325880"/>
            <a:ext cx="9902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Calibri"/>
              </a:rPr>
              <a:t>World Bank -- World Development Indicators (WDI)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11457432" cy="521207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828800"/>
            <a:ext cx="1097280" cy="521207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911095"/>
            <a:ext cx="1060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1911095"/>
            <a:ext cx="9902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Calibri"/>
              </a:rPr>
              <a:t>Federal Reserve -- Why Does the Fed Aim for 2% Inflation? (2021)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14015"/>
            <a:ext cx="11457432" cy="521207"/>
          </a:xfrm>
          <a:prstGeom prst="rect">
            <a:avLst/>
          </a:prstGeom>
          <a:solidFill>
            <a:srgbClr val="15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414015"/>
            <a:ext cx="1097280" cy="521207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496311"/>
            <a:ext cx="1060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496311"/>
            <a:ext cx="9902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Calibri"/>
              </a:rPr>
              <a:t>European Central Bank -- Inflation and the ECB 2% Target Explained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99232"/>
            <a:ext cx="11457432" cy="521207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999232"/>
            <a:ext cx="1097280" cy="521207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081528"/>
            <a:ext cx="1060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081528"/>
            <a:ext cx="9902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Calibri"/>
              </a:rPr>
              <a:t>Reserve Bank of Australia -- Inflation Target and Monetary Policy (2023 Review)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84448"/>
            <a:ext cx="11457432" cy="521207"/>
          </a:xfrm>
          <a:prstGeom prst="rect">
            <a:avLst/>
          </a:prstGeom>
          <a:solidFill>
            <a:srgbClr val="15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584448"/>
            <a:ext cx="1097280" cy="521207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666744"/>
            <a:ext cx="1060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Textbook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666744"/>
            <a:ext cx="9902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Calibri"/>
              </a:rPr>
              <a:t>Mankiw, N.G. -- Principles of Economics, 9th Edition (Chapters 11, 16, 30)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69663"/>
            <a:ext cx="11457432" cy="521207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169663"/>
            <a:ext cx="1097280" cy="521207"/>
          </a:xfrm>
          <a:prstGeom prst="rect">
            <a:avLst/>
          </a:prstGeom>
          <a:solidFill>
            <a:srgbClr val="7ED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251959"/>
            <a:ext cx="1060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Textbook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251959"/>
            <a:ext cx="9902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Calibri"/>
              </a:rPr>
              <a:t>Krugman &amp; Wells -- Macroeconomics, 5th Edition -- Inflation and the Price Level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754880"/>
            <a:ext cx="11457432" cy="521207"/>
          </a:xfrm>
          <a:prstGeom prst="rect">
            <a:avLst/>
          </a:prstGeom>
          <a:solidFill>
            <a:srgbClr val="15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754880"/>
            <a:ext cx="1097280" cy="521207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4837176"/>
            <a:ext cx="1060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Research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4837176"/>
            <a:ext cx="9902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Calibri"/>
              </a:rPr>
              <a:t>Knuuti et al. -- The Benefits of Inflation Targeting, IMF Working Paper (2018)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40096"/>
            <a:ext cx="11457432" cy="521207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340096"/>
            <a:ext cx="1097280" cy="521207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422392"/>
            <a:ext cx="1060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Research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5422392"/>
            <a:ext cx="9902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Calibri"/>
              </a:rPr>
              <a:t>Bank for International Settlements -- BIS Quarterly Review: Inflation Dynamics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925312"/>
            <a:ext cx="11457432" cy="521207"/>
          </a:xfrm>
          <a:prstGeom prst="rect">
            <a:avLst/>
          </a:prstGeom>
          <a:solidFill>
            <a:srgbClr val="15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925312"/>
            <a:ext cx="1097280" cy="521207"/>
          </a:xfrm>
          <a:prstGeom prst="rect">
            <a:avLst/>
          </a:prstGeom>
          <a:solidFill>
            <a:srgbClr val="8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6007607"/>
            <a:ext cx="1060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628"/>
                </a:solidFill>
                <a:latin typeface="Calibri"/>
              </a:rPr>
              <a:t>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6007607"/>
            <a:ext cx="9902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Calibri"/>
              </a:rPr>
              <a:t>Cole Nussbaumer Knaflic -- Storytelling with Data (2015) -- narrative structure &amp; visualisation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73952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9AA"/>
                </a:solidFill>
                <a:latin typeface="Calibri"/>
              </a:rPr>
              <a:t>OECD Cohort  |  bmalambo  |  2026  |  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